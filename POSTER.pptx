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251999"/>
          </a:xfrm>
          <a:prstGeom prst="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576000"/>
            <a:ext cx="4243692" cy="115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44000" y="540000"/>
            <a:ext cx="7740000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EC4A2A"/>
                </a:solidFill>
                <a:latin typeface="Gill Sans MT"/>
              </a:rPr>
              <a:t>STEAM SCHOOL · PREMIOS</a:t>
            </a:r>
          </a:p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5B6673"/>
                </a:solidFill>
                <a:latin typeface="Gill Sans MT"/>
              </a:rPr>
              <a:t>Universidad Europea · Proyecto de Ingeniería · Curso 2025/26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2015999"/>
            <a:ext cx="19584000" cy="216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200" b="1">
                <a:solidFill>
                  <a:srgbClr val="111418"/>
                </a:solidFill>
                <a:latin typeface="Gill Sans MT"/>
              </a:rPr>
              <a:t>Diseño y construcción de un </a:t>
            </a:r>
            <a:r>
              <a:rPr sz="4200" b="1">
                <a:solidFill>
                  <a:srgbClr val="EC4A2A"/>
                </a:solidFill>
                <a:latin typeface="Gill Sans MT"/>
              </a:rPr>
              <a:t>vehículo automatizado</a:t>
            </a:r>
            <a:r>
              <a:rPr sz="4200" b="1">
                <a:solidFill>
                  <a:srgbClr val="111418"/>
                </a:solidFill>
                <a:latin typeface="Gill Sans MT"/>
              </a:rPr>
              <a:t> a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176000"/>
            <a:ext cx="19584000" cy="57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5B6673"/>
                </a:solidFill>
                <a:latin typeface="Gill Sans MT"/>
              </a:rPr>
              <a:t>Grado en Ingeniería en Sistemas Industriales — Teoría de Máquinas y Mecanismos · Automatismos y Control (M22)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824000"/>
            <a:ext cx="19584000" cy="503999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EC4A2A"/>
                </a:solidFill>
                <a:latin typeface="Gill Sans MT"/>
              </a:rPr>
              <a:t>Equipo TorqueLab: </a:t>
            </a:r>
            <a:r>
              <a:rPr sz="1600" b="1">
                <a:solidFill>
                  <a:srgbClr val="111418"/>
                </a:solidFill>
                <a:latin typeface="Gill Sans MT"/>
              </a:rPr>
              <a:t>Amaya Sánchez · Héctor Sanz · Jorge González</a:t>
            </a:r>
            <a:r>
              <a:rPr sz="1400" b="0">
                <a:solidFill>
                  <a:srgbClr val="5B6673"/>
                </a:solidFill>
                <a:latin typeface="Gill Sans MT"/>
              </a:rPr>
              <a:t>     Profesores: Juan Luis Carrasco y Javier Fernández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5472000"/>
            <a:ext cx="19584000" cy="4320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000" y="5903999"/>
            <a:ext cx="251999" cy="468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5867999"/>
            <a:ext cx="19224000" cy="540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111418"/>
                </a:solidFill>
                <a:latin typeface="Gill Sans MT"/>
              </a:rPr>
              <a:t>Objetivos académicos del proyecto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6552000"/>
            <a:ext cx="11160000" cy="48600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6552000"/>
            <a:ext cx="144000" cy="4860000"/>
          </a:xfrm>
          <a:prstGeom prst="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000" y="6768000"/>
            <a:ext cx="10656001" cy="450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111418"/>
                </a:solidFill>
                <a:latin typeface="Gill Sans MT"/>
              </a:rPr>
              <a:t>Diseñar y construir una maqueta funcional de vehículo a escala que integre de forma práctica la mecánica, la electrónica y la programación.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50" b="0">
                <a:solidFill>
                  <a:srgbClr val="1E2733"/>
                </a:solidFill>
                <a:latin typeface="Gill Sans MT"/>
              </a:rPr>
              <a:t>›  Diseño mecánico: transmisión, dirección y suspensión.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50" b="0">
                <a:solidFill>
                  <a:srgbClr val="1E2733"/>
                </a:solidFill>
                <a:latin typeface="Gill Sans MT"/>
              </a:rPr>
              <a:t>›  Automatizar el comportamiento con sensores, actuadores y controlador.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50" b="0">
                <a:solidFill>
                  <a:srgbClr val="1E2733"/>
                </a:solidFill>
                <a:latin typeface="Gill Sans MT"/>
              </a:rPr>
              <a:t>›  Avance, retroceso, cambio de velocidad y giro controlados.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50" b="0">
                <a:solidFill>
                  <a:srgbClr val="1E2733"/>
                </a:solidFill>
                <a:latin typeface="Gill Sans MT"/>
              </a:rPr>
              <a:t>›  Seguridad: detección de obstáculos y parada de emergencia.</a:t>
            </a:r>
          </a:p>
        </p:txBody>
      </p:sp>
      <p:pic>
        <p:nvPicPr>
          <p:cNvPr id="15" name="Picture 14" descr="poster_coch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000" y="6552000"/>
            <a:ext cx="7884000" cy="33454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00000" y="10836000"/>
            <a:ext cx="7884000" cy="5760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08000" y="10854000"/>
            <a:ext cx="7668000" cy="540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Gill Sans MT"/>
              </a:rPr>
              <a:t>Chasis 3D · dirección Ackermann · suspensión · tracción por motor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11880000"/>
            <a:ext cx="251999" cy="468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11844000"/>
            <a:ext cx="19224000" cy="540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111418"/>
                </a:solidFill>
                <a:latin typeface="Gill Sans MT"/>
              </a:rPr>
              <a:t>Fases del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12527999"/>
            <a:ext cx="628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1999" y="12743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1999" y="12725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1999" y="13391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Requisitos y especificaciones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1999" y="14327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Maqueta ≈ 40×25 cm · 0,1–0,5 m/s.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Caja de cambios: 2 avance + 1 atrás.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Dirección izq./der. y suspensión.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Obstáculos, finales de carrera y seta.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8000" y="12527999"/>
            <a:ext cx="628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9999" y="12743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999" y="12725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999" y="13391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Diseño mecánico y cálculos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999" y="14327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Engranajes rectos: módulo 1,5 · dientes 12/24/36/48.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Caja 'Sliding Gear' + engranaje loco (atrás).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Dirección Ackermann: 1 GDL (Grübler).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PLA + ejes de acero Ø5 mm · impresión 3D.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96000" y="12527999"/>
            <a:ext cx="628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447999" y="12743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999" y="12725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999" y="13391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Automatización y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999" y="14327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Arduino UNO + driver L298N (2 motores).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Ultrasonidos HC-SR04 (miden distancia).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Microswitches: marchas y finales de carrera.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Seta, intermitentes y luz de marcha atrás.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000" y="17639999"/>
            <a:ext cx="628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51999" y="17855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1999" y="17837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1999" y="18503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Construcción y montaje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1999" y="19439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Ensamblaje sobre el chasis impreso en 3D.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Electrónica con masa común.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Arduino por USB/jack; 12 V solo al L298N.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Cableado por bloques y verificado.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8000" y="17639999"/>
            <a:ext cx="628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99999" y="17855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9999" y="17837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999" y="18503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Programación y pruebas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9999" y="19439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Lógica en Arduino, validada en Wokwi.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Diagnóstico por Monitor Serie.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OK: marcha atrás, intermitentes, distancia.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OK: parada a 20 cm y bloqueo en marcha.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196000" y="17639999"/>
            <a:ext cx="6288000" cy="4680000"/>
          </a:xfrm>
          <a:prstGeom prst="roundRect">
            <a:avLst/>
          </a:prstGeom>
          <a:solidFill>
            <a:srgbClr val="FFF7F5"/>
          </a:solidFill>
          <a:ln w="31750">
            <a:solidFill>
              <a:srgbClr val="EC4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4447999" y="17855999"/>
            <a:ext cx="1548000" cy="540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447999" y="17837999"/>
            <a:ext cx="1548000" cy="57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Gill Sans MT"/>
              </a:rPr>
              <a:t>FASE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999" y="18503999"/>
            <a:ext cx="5784001" cy="93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111418"/>
                </a:solidFill>
                <a:latin typeface="Gill Sans MT"/>
              </a:rPr>
              <a:t>Recopilación de datos, resultados y valoraciones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999" y="19439999"/>
            <a:ext cx="5820000" cy="280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Maqueta funcional: avanza, gira, señaliza y frena.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Integración lograda de mecánica y control.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Incidencias resueltas (Arduino, IR→ultrasonidos).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1">
                <a:solidFill>
                  <a:srgbClr val="EC4A2A"/>
                </a:solidFill>
                <a:latin typeface="Gill Sans MT"/>
              </a:rPr>
              <a:t>•  </a:t>
            </a:r>
            <a:r>
              <a:rPr sz="1400" b="0">
                <a:solidFill>
                  <a:srgbClr val="1E2733"/>
                </a:solidFill>
                <a:latin typeface="Gill Sans MT"/>
              </a:rPr>
              <a:t>Aprendizaje práctico de ingeniería reforzado.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000" y="22752000"/>
            <a:ext cx="251999" cy="468000"/>
          </a:xfrm>
          <a:prstGeom prst="roundRect">
            <a:avLst/>
          </a:prstGeom>
          <a:solidFill>
            <a:srgbClr val="EC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0000" y="22716000"/>
            <a:ext cx="19224000" cy="540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111418"/>
                </a:solidFill>
                <a:latin typeface="Gill Sans MT"/>
              </a:rPr>
              <a:t>Datos técnicos clave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000" y="23400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000" y="23580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00" y="24444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marchas (2 avance + 1 atrás)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86000" y="23400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86000" y="23580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0,1–0,5 m/s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6000" y="24444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rango de velocidad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72000" y="23400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72000" y="23580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200 rpm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72000" y="24444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motor 12 V · ruedas Ø65 mm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5858000" y="23400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858000" y="23580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1 GDL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858000" y="24444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dirección (Grübler)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000" y="25596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000" y="25776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45 mm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000" y="26640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distancia entre ejes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86000" y="25596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86000" y="25776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20 cm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86000" y="26640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frenado ante obstáculo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872000" y="25596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72000" y="25776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42×26 cm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72000" y="26640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dimensiones del chasis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5858000" y="25596000"/>
            <a:ext cx="4626000" cy="187200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58000" y="25776000"/>
            <a:ext cx="4626000" cy="864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FF9A6F"/>
                </a:solidFill>
                <a:latin typeface="Gill Sans MT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858000" y="26640000"/>
            <a:ext cx="4626000" cy="75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C7CFDA"/>
                </a:solidFill>
                <a:latin typeface="Gill Sans MT"/>
              </a:rPr>
              <a:t>motores tracción+dirección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29483999"/>
            <a:ext cx="21384000" cy="79200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0" y="29501999"/>
            <a:ext cx="21384000" cy="756000"/>
          </a:xfrm>
          <a:prstGeom prst="rect">
            <a:avLst/>
          </a:prstGeom>
          <a:noFill/>
        </p:spPr>
        <p:txBody>
          <a:bodyPr wrap="square" anchor="ctr" lIns="54000" rIns="54000" tIns="54000" bIns="540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AEB6C2"/>
                </a:solidFill>
                <a:latin typeface="Gill Sans MT"/>
              </a:rPr>
              <a:t>Universidad Europea · STEAM School Premios · Equipo TorqueLab · Proyecto PBL Vehículo Automatizado — Arduino UNO · Curso 2025/26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